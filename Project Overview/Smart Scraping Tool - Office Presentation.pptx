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46720" y="731520"/>
            <a:ext cx="4114800" cy="4114800"/>
          </a:xfrm>
          <a:prstGeom prst="rect">
            <a:avLst/>
          </a:prstGeom>
          <a:solidFill>
            <a:srgbClr val="006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Meet Your New
Digital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6400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A0C4C2"/>
                </a:solidFill>
                <a:latin typeface="Calibri"/>
              </a:rPr>
              <a:t>How our smart tool saves hours of work every week
and keeps our</a:t>
            </a:r>
            <a:r>
              <a:rPr lang="en-US" sz="2000" b="0" i="0" dirty="0">
                <a:solidFill>
                  <a:srgbClr val="A0C4C2"/>
                </a:solidFill>
                <a:latin typeface="Calibri"/>
              </a:rPr>
              <a:t> SD_SKU</a:t>
            </a:r>
            <a:r>
              <a:rPr sz="2000" b="0" i="0" dirty="0">
                <a:solidFill>
                  <a:srgbClr val="A0C4C2"/>
                </a:solidFill>
                <a:latin typeface="Calibri"/>
              </a:rPr>
              <a:t> product data always up to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486400"/>
            <a:ext cx="3291840" cy="502920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  Smarter. Faster. Always Accurate.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33E"/>
                </a:solidFill>
                <a:latin typeface="Calibri"/>
              </a:rPr>
              <a:t>The Old Way — Lots of Manual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B7A99"/>
                </a:solidFill>
                <a:latin typeface="Calibri"/>
              </a:rPr>
              <a:t>Every time a vendor updates prices, images or specs, someone had to do this by hand: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2743200" cy="82296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3E"/>
                </a:solidFill>
                <a:latin typeface="Calibri"/>
              </a:rPr>
              <a:t>Hours of Browsing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514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  <a:latin typeface="Calibri"/>
              </a:rPr>
              <a:t>Visiting each vendor website one by 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7373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737360"/>
            <a:ext cx="2743200" cy="8229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1920240"/>
            <a:ext cx="2560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1A233E"/>
                </a:solidFill>
                <a:latin typeface="Calibri"/>
              </a:rPr>
              <a:t>Website research and create code</a:t>
            </a:r>
            <a:endParaRPr sz="1600" b="1" i="0" dirty="0">
              <a:solidFill>
                <a:srgbClr val="1A233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47288" y="2514600"/>
            <a:ext cx="25603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6B7A99"/>
                </a:solidFill>
                <a:latin typeface="Calibri"/>
              </a:rPr>
              <a:t>Manually</a:t>
            </a:r>
            <a:r>
              <a:rPr lang="en-US" sz="1300" b="0" i="0" dirty="0">
                <a:solidFill>
                  <a:srgbClr val="6B7A99"/>
                </a:solidFill>
                <a:latin typeface="Calibri"/>
              </a:rPr>
              <a:t> researching the vendor</a:t>
            </a:r>
            <a:r>
              <a:rPr sz="1300" b="0" i="0" dirty="0">
                <a:solidFill>
                  <a:srgbClr val="6B7A99"/>
                </a:solidFill>
                <a:latin typeface="Calibri"/>
              </a:rPr>
              <a:t> </a:t>
            </a:r>
            <a:r>
              <a:rPr lang="en-US" sz="1300" b="0" i="0" dirty="0">
                <a:solidFill>
                  <a:srgbClr val="6B7A99"/>
                </a:solidFill>
                <a:latin typeface="Calibri"/>
              </a:rPr>
              <a:t>and with the help from AI, we create the code. Run manually every time.</a:t>
            </a:r>
            <a:endParaRPr sz="1300" b="0" i="0" dirty="0">
              <a:solidFill>
                <a:srgbClr val="6B7A99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737360"/>
            <a:ext cx="2743200" cy="82296"/>
          </a:xfrm>
          <a:prstGeom prst="rect">
            <a:avLst/>
          </a:prstGeom>
          <a:solidFill>
            <a:srgbClr val="C0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3E"/>
                </a:solidFill>
                <a:latin typeface="Calibri"/>
              </a:rPr>
              <a:t>Human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514600"/>
            <a:ext cx="2560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6B7A99"/>
                </a:solidFill>
                <a:latin typeface="Calibri"/>
              </a:rPr>
              <a:t>Typos, missed </a:t>
            </a:r>
            <a:r>
              <a:rPr lang="en-US" sz="1300" b="0" i="0" dirty="0">
                <a:solidFill>
                  <a:srgbClr val="6B7A99"/>
                </a:solidFill>
                <a:latin typeface="Calibri"/>
              </a:rPr>
              <a:t>product data field</a:t>
            </a:r>
            <a:r>
              <a:rPr sz="1300" b="0" i="0" dirty="0">
                <a:solidFill>
                  <a:srgbClr val="6B7A99"/>
                </a:solidFill>
                <a:latin typeface="Calibri"/>
              </a:rPr>
              <a:t>, </a:t>
            </a:r>
            <a:r>
              <a:rPr lang="en-US" sz="1300" b="0" i="0" dirty="0">
                <a:solidFill>
                  <a:srgbClr val="6B7A99"/>
                </a:solidFill>
                <a:latin typeface="Calibri"/>
              </a:rPr>
              <a:t>and sometimes too much effort </a:t>
            </a:r>
            <a:endParaRPr sz="1300" b="0" i="0" dirty="0">
              <a:solidFill>
                <a:srgbClr val="6B7A99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89720" y="17373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2743200" cy="82296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3E"/>
                </a:solidFill>
                <a:latin typeface="Calibri"/>
              </a:rPr>
              <a:t>Never 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514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A99"/>
                </a:solidFill>
                <a:latin typeface="Calibri"/>
              </a:rPr>
              <a:t>Vendors update constantly — the work never stops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Introducing Our
Smart Scraping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C4C2"/>
                </a:solidFill>
                <a:latin typeface="Calibri"/>
              </a:rPr>
              <a:t>Think of it as a tireless team member who visits every vendor
website automatically and fills in the spreadsheet for you — perfectly, every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2560320" cy="2194560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We point it
at a vendor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4434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840480"/>
            <a:ext cx="2560320" cy="21945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39319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4663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It reads every
product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434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840480"/>
            <a:ext cx="2560320" cy="2194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18120" y="39319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6634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Ready-to-use
spreadsheet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33E"/>
                </a:solidFill>
                <a:latin typeface="Calibri"/>
              </a:rPr>
              <a:t>What Information Does It Gather?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B7A99"/>
                </a:solidFill>
                <a:latin typeface="Calibri"/>
              </a:rPr>
              <a:t>For every single product on a vendor's website, it automatically captures: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465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E"/>
                </a:solidFill>
                <a:latin typeface="Calibri"/>
              </a:rPr>
              <a:t>Product Photos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Calibri"/>
              </a:rPr>
              <a:t>Main image and all variant photos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07208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E"/>
                </a:solidFill>
                <a:latin typeface="Calibri"/>
              </a:rPr>
              <a:t>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6440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Calibri"/>
              </a:rPr>
              <a:t>Always the latest list price — no guessing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22776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977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E"/>
                </a:solidFill>
                <a:latin typeface="Calibri"/>
              </a:rPr>
              <a:t>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7997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Calibri"/>
              </a:rPr>
              <a:t>Height, width, depth, weight — all units clean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038344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0932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E"/>
                </a:solidFill>
                <a:latin typeface="Calibri"/>
              </a:rPr>
              <a:t>Full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9554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Calibri"/>
              </a:rPr>
              <a:t>Product story, materials, and specifications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17465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E"/>
                </a:solidFill>
                <a:latin typeface="Calibri"/>
              </a:rPr>
              <a:t>Variants &amp; Finishes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48840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Calibri"/>
              </a:rPr>
              <a:t>Every colour, finish or size option listed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07208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286207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E"/>
                </a:solidFill>
                <a:latin typeface="Calibri"/>
              </a:rPr>
              <a:t>Product Codes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64408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Calibri"/>
              </a:rPr>
              <a:t>SKU codes generated if the vendor doesn't provide them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922776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9776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E"/>
                </a:solidFill>
                <a:latin typeface="Calibri"/>
              </a:rPr>
              <a:t>Designer &amp; Origin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7997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Calibri"/>
              </a:rPr>
              <a:t>Who made it, where it comes from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038344"/>
            <a:ext cx="5486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50932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3E"/>
                </a:solidFill>
                <a:latin typeface="Calibri"/>
              </a:rPr>
              <a:t>Tearsheet Links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9554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A99"/>
                </a:solidFill>
                <a:latin typeface="Calibri"/>
              </a:rPr>
              <a:t>Direct link to the product tearsheet if available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1A233E"/>
                </a:solidFill>
                <a:latin typeface="Calibri"/>
              </a:rPr>
              <a:t>Why </a:t>
            </a:r>
            <a:r>
              <a:rPr lang="en-US" sz="3000" b="1" i="0" dirty="0">
                <a:solidFill>
                  <a:srgbClr val="1A233E"/>
                </a:solidFill>
                <a:latin typeface="Calibri"/>
              </a:rPr>
              <a:t>Our Client</a:t>
            </a:r>
            <a:r>
              <a:rPr sz="3000" b="1" i="0" dirty="0">
                <a:solidFill>
                  <a:srgbClr val="1A233E"/>
                </a:solidFill>
                <a:latin typeface="Calibri"/>
              </a:rPr>
              <a:t> Will Love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566160" cy="2331720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Huge Time Savings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What used to take days now
takes minutes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005840"/>
            <a:ext cx="3566160" cy="2331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234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Always Accurate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9202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typos, no missing fields,
no outdated prices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4" y="1005840"/>
            <a:ext cx="3566160" cy="23317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75904" y="1234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Organised &amp;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9202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Data lands straight into a
neat formatted spreadsheet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3566160" cy="23317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Stays Up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Run it any time — vendor
updates captured instantly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3566160"/>
            <a:ext cx="3566160" cy="23317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Works for Every Vendor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4480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One tool covers all vendors
we work with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3566160"/>
            <a:ext cx="3566160" cy="233172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75904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No Manual Checking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44805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Your team can focus on design,
not data entry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33E"/>
                </a:solidFill>
                <a:latin typeface="Calibri"/>
              </a:rPr>
              <a:t>Before &amp;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733629" cy="5303520"/>
          </a:xfrm>
          <a:prstGeom prst="rect">
            <a:avLst/>
          </a:prstGeom>
          <a:solidFill>
            <a:srgbClr val="FFEBEB"/>
          </a:solidFill>
          <a:ln w="12700">
            <a:solidFill>
              <a:srgbClr val="E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33629" cy="502920"/>
          </a:xfrm>
          <a:prstGeom prst="rect">
            <a:avLst/>
          </a:prstGeom>
          <a:solidFill>
            <a:srgbClr val="C0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33271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Stone Age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31444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7B1F1F"/>
                </a:solidFill>
                <a:latin typeface="Calibri"/>
              </a:rPr>
              <a:t>  X  Open vendor website manually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677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7B1F1F"/>
                </a:solidFill>
                <a:latin typeface="Calibri"/>
              </a:rPr>
              <a:t>  X  Search through hundreds of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437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  <a:latin typeface="Calibri"/>
              </a:rPr>
              <a:t>  X  Copy each product name, price, 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198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  <a:latin typeface="Calibri"/>
              </a:rPr>
              <a:t>  X  Paste into spreadsheet, fix formatting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9592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  <a:latin typeface="Calibri"/>
              </a:rPr>
              <a:t>  X  Check for typos and missing 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  <a:latin typeface="Calibri"/>
              </a:rPr>
              <a:t>  X  Repeat for every vendor, every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4807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  <a:latin typeface="Calibri"/>
              </a:rPr>
              <a:t>  X  Hope nothing changed since last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0278" y="1005840"/>
            <a:ext cx="3824041" cy="5303520"/>
          </a:xfrm>
          <a:prstGeom prst="rect">
            <a:avLst/>
          </a:prstGeom>
          <a:solidFill>
            <a:srgbClr val="E8F5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80278" y="1005840"/>
            <a:ext cx="3824041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1717" y="106349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rgbClr val="FFFFFF"/>
                </a:solidFill>
                <a:latin typeface="Calibri"/>
              </a:rPr>
              <a:t>Agent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71716" y="1691640"/>
            <a:ext cx="35497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B5E20"/>
                </a:solidFill>
                <a:latin typeface="Calibri"/>
              </a:rPr>
              <a:t>  OK  Type the vendor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1716" y="2267712"/>
            <a:ext cx="35497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  <a:latin typeface="Calibri"/>
              </a:rPr>
              <a:t>  OK  Press 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1716" y="2843784"/>
            <a:ext cx="35497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  <a:latin typeface="Calibri"/>
              </a:rPr>
              <a:t>  OK  Go for a coffee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1716" y="3419856"/>
            <a:ext cx="35497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  <a:latin typeface="Calibri"/>
              </a:rPr>
              <a:t>  OK  Come back to a perfect spreadsheet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1716" y="3995928"/>
            <a:ext cx="35497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  <a:latin typeface="Calibri"/>
              </a:rPr>
              <a:t>  OK  Every product — captured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1716" y="4572000"/>
            <a:ext cx="35497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  <a:latin typeface="Calibri"/>
              </a:rPr>
              <a:t>  OK  Every field — filled in correctly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1716" y="5148072"/>
            <a:ext cx="35497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  <a:latin typeface="Calibri"/>
              </a:rPr>
              <a:t>  OK  Ready to use immediately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30B206-C851-0666-44CB-34CCEF77E47D}"/>
              </a:ext>
            </a:extLst>
          </p:cNvPr>
          <p:cNvSpPr/>
          <p:nvPr/>
        </p:nvSpPr>
        <p:spPr>
          <a:xfrm>
            <a:off x="4190827" y="1005840"/>
            <a:ext cx="3508419" cy="53035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36839B-6313-4E46-1B13-C8108DBEAD0B}"/>
              </a:ext>
            </a:extLst>
          </p:cNvPr>
          <p:cNvSpPr/>
          <p:nvPr/>
        </p:nvSpPr>
        <p:spPr>
          <a:xfrm>
            <a:off x="4190827" y="1005840"/>
            <a:ext cx="3508419" cy="5029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Semi AI</a:t>
            </a:r>
            <a:endParaRPr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3B95C7-EBD0-7902-FB28-9C50D85A67F8}"/>
              </a:ext>
            </a:extLst>
          </p:cNvPr>
          <p:cNvSpPr txBox="1"/>
          <p:nvPr/>
        </p:nvSpPr>
        <p:spPr>
          <a:xfrm>
            <a:off x="4190827" y="1731915"/>
            <a:ext cx="331444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7B1F1F"/>
                </a:solidFill>
                <a:latin typeface="Calibri"/>
              </a:rPr>
              <a:t>  X  Open vendor website manually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94F75A-C975-D0D9-0430-766D8C8CB366}"/>
              </a:ext>
            </a:extLst>
          </p:cNvPr>
          <p:cNvSpPr txBox="1"/>
          <p:nvPr/>
        </p:nvSpPr>
        <p:spPr>
          <a:xfrm>
            <a:off x="4217109" y="2279688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7B1F1F"/>
                </a:solidFill>
                <a:latin typeface="Calibri"/>
              </a:rPr>
              <a:t>  X  </a:t>
            </a:r>
            <a:r>
              <a:rPr lang="en-US" sz="1300" b="0" i="0" dirty="0">
                <a:solidFill>
                  <a:srgbClr val="7B1F1F"/>
                </a:solidFill>
                <a:latin typeface="Calibri"/>
              </a:rPr>
              <a:t>R&amp;D every category</a:t>
            </a:r>
            <a:endParaRPr sz="1300" b="0" i="0" dirty="0">
              <a:solidFill>
                <a:srgbClr val="7B1F1F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3E26E7-1D91-F3D0-C6E2-5357CA42B6D3}"/>
              </a:ext>
            </a:extLst>
          </p:cNvPr>
          <p:cNvSpPr txBox="1"/>
          <p:nvPr/>
        </p:nvSpPr>
        <p:spPr>
          <a:xfrm>
            <a:off x="4190827" y="2821404"/>
            <a:ext cx="4937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 </a:t>
            </a:r>
            <a:r>
              <a:rPr lang="en-US" sz="1300" b="0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OK</a:t>
            </a:r>
            <a:r>
              <a:rPr sz="1300" b="0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 </a:t>
            </a:r>
            <a:r>
              <a:rPr lang="en-US" sz="1300" b="0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Develop the code, optimized with AI</a:t>
            </a:r>
            <a:endParaRPr sz="1300" b="0" i="0" dirty="0">
              <a:solidFill>
                <a:schemeClr val="accent3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E73974-49BE-1CEA-CB37-80A98D696C18}"/>
              </a:ext>
            </a:extLst>
          </p:cNvPr>
          <p:cNvSpPr txBox="1"/>
          <p:nvPr/>
        </p:nvSpPr>
        <p:spPr>
          <a:xfrm>
            <a:off x="4242198" y="342996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1F1F"/>
                </a:solidFill>
                <a:latin typeface="Calibri"/>
              </a:rPr>
              <a:t>  X  Paste into spreadsheet, fix formatting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C16583-28F5-375A-215B-67088F5A1D6D}"/>
              </a:ext>
            </a:extLst>
          </p:cNvPr>
          <p:cNvSpPr txBox="1"/>
          <p:nvPr/>
        </p:nvSpPr>
        <p:spPr>
          <a:xfrm>
            <a:off x="4206239" y="45718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7B1F1F"/>
                </a:solidFill>
                <a:latin typeface="Calibri"/>
              </a:rPr>
              <a:t>  X  Check for typos and missing info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C636F8-1129-8315-EC59-63AE13559B84}"/>
              </a:ext>
            </a:extLst>
          </p:cNvPr>
          <p:cNvSpPr txBox="1"/>
          <p:nvPr/>
        </p:nvSpPr>
        <p:spPr>
          <a:xfrm>
            <a:off x="4206239" y="4004815"/>
            <a:ext cx="35497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  <a:latin typeface="Calibri"/>
              </a:rPr>
              <a:t>  OK  Every product — captured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8D05E9-17F3-C95E-C7BC-1BE204B5B353}"/>
              </a:ext>
            </a:extLst>
          </p:cNvPr>
          <p:cNvSpPr txBox="1"/>
          <p:nvPr/>
        </p:nvSpPr>
        <p:spPr>
          <a:xfrm>
            <a:off x="4134111" y="5152796"/>
            <a:ext cx="354972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B5E20"/>
                </a:solidFill>
                <a:latin typeface="Calibri"/>
              </a:rPr>
              <a:t>  OK  Every field — filled in correctly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274"/>
            <a:ext cx="12188952" cy="6858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Who Benefits in Our Office</a:t>
            </a:r>
            <a:r>
              <a:rPr lang="en-US" sz="3000" b="1" i="0" dirty="0">
                <a:solidFill>
                  <a:srgbClr val="FFFFFF"/>
                </a:solidFill>
                <a:latin typeface="Calibri"/>
              </a:rPr>
              <a:t> / Client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0C4C2"/>
                </a:solidFill>
                <a:latin typeface="Calibri"/>
              </a:rPr>
              <a:t>This tool touches every team that works with product information: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474720" cy="1920240"/>
          </a:xfrm>
          <a:prstGeom prst="rect">
            <a:avLst/>
          </a:prstGeom>
          <a:solidFill>
            <a:srgbClr val="242F55"/>
          </a:solidFill>
          <a:ln w="1270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Design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Instantly browse the full product range
of any vendor — no more hunting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737360"/>
            <a:ext cx="3474720" cy="1920240"/>
          </a:xfrm>
          <a:prstGeom prst="rect">
            <a:avLst/>
          </a:prstGeom>
          <a:solidFill>
            <a:srgbClr val="242F55"/>
          </a:solidFill>
          <a:ln w="1270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847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Procurement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23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Accurate prices and specs, always
up to date — order with confidence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737360"/>
            <a:ext cx="3474720" cy="1920240"/>
          </a:xfrm>
          <a:prstGeom prst="rect">
            <a:avLst/>
          </a:prstGeom>
          <a:solidFill>
            <a:srgbClr val="242F55"/>
          </a:solidFill>
          <a:ln w="1270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847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Project Managers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23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Products ready for client proposals
without waiting for data entry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3474720" cy="1920240"/>
          </a:xfrm>
          <a:prstGeom prst="rect">
            <a:avLst/>
          </a:prstGeom>
          <a:solidFill>
            <a:srgbClr val="242F55"/>
          </a:solidFill>
          <a:ln w="1270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133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Marketing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Fresh images and descriptions
for every campaign, automatically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023360"/>
            <a:ext cx="3474720" cy="1920240"/>
          </a:xfrm>
          <a:prstGeom prst="rect">
            <a:avLst/>
          </a:prstGeom>
          <a:solidFill>
            <a:srgbClr val="242F55"/>
          </a:solidFill>
          <a:ln w="12700">
            <a:solidFill>
              <a:srgbClr val="009B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41330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Studio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7091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Clean, consistent spreadsheets —
no reformatting, no chasing people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33E"/>
                </a:solidFill>
                <a:latin typeface="Calibri"/>
              </a:rPr>
              <a:t>So... How Does Someone Actually Use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B7A99"/>
                </a:solidFill>
                <a:latin typeface="Calibri"/>
              </a:rPr>
              <a:t>You don't need any technical knowledge. It's as simple as: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600200"/>
            <a:ext cx="960120" cy="960120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960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9B94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33E"/>
                </a:solidFill>
                <a:latin typeface="Calibri"/>
              </a:rPr>
              <a:t>Tell it the vendor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9"/>
                </a:solidFill>
                <a:latin typeface="Calibri"/>
              </a:rPr>
              <a:t>Just type the vendor name
and press Enter. That is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600200"/>
            <a:ext cx="960120" cy="960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600200"/>
            <a:ext cx="960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AF37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33E"/>
                </a:solidFill>
                <a:latin typeface="Calibri"/>
              </a:rPr>
              <a:t>It does a quick test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703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9"/>
                </a:solidFill>
                <a:latin typeface="Calibri"/>
              </a:rPr>
              <a:t>It checks a few products to
make sure everything looks right.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600200"/>
            <a:ext cx="960120" cy="9601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600200"/>
            <a:ext cx="960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6BC0"/>
                </a:solidFill>
                <a:latin typeface="Calibr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33E"/>
                </a:solidFill>
                <a:latin typeface="Calibri"/>
              </a:rPr>
              <a:t>Confirm and 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9"/>
                </a:solidFill>
                <a:latin typeface="Calibri"/>
              </a:rPr>
              <a:t>One confirmation and it runs
the full catalogue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1600200"/>
            <a:ext cx="960120" cy="960120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1600200"/>
            <a:ext cx="960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97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A69A"/>
                </a:solidFill>
                <a:latin typeface="Calibr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233E"/>
                </a:solidFill>
                <a:latin typeface="Calibri"/>
              </a:rPr>
              <a:t>Pick up your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703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99"/>
                </a:solidFill>
                <a:latin typeface="Calibri"/>
              </a:rPr>
              <a:t>Find the finished Excel file
in the vendor folder. Done!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B94"/>
                </a:solidFill>
                <a:latin typeface="Calibri"/>
              </a:rPr>
              <a:t>No coding. No setup. No training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33E"/>
                </a:solidFill>
                <a:latin typeface="Calibri"/>
              </a:rPr>
              <a:t>What This Means in Real Life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651760" cy="2926080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2377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  <a:latin typeface="Calibri"/>
              </a:rPr>
              <a:t>100</a:t>
            </a:r>
            <a:r>
              <a:rPr lang="en-US" sz="4400" b="1" i="0" dirty="0">
                <a:solidFill>
                  <a:srgbClr val="FFFFFF"/>
                </a:solidFill>
                <a:latin typeface="Calibri"/>
              </a:rPr>
              <a:t>0</a:t>
            </a:r>
            <a:r>
              <a:rPr sz="4400" b="1" i="0" dirty="0">
                <a:solidFill>
                  <a:srgbClr val="FFFFFF"/>
                </a:solidFill>
                <a:latin typeface="Calibri"/>
              </a:rPr>
              <a:t>s</a:t>
            </a:r>
            <a:r>
              <a:rPr lang="en-US" sz="4400" b="1" i="0" dirty="0">
                <a:solidFill>
                  <a:srgbClr val="FFFFFF"/>
                </a:solidFill>
                <a:latin typeface="Calibri"/>
              </a:rPr>
              <a:t>+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of products captured
per vendor, 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651760" cy="292608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06040"/>
            <a:ext cx="237744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FFFFFF"/>
                </a:solidFill>
                <a:latin typeface="Calibri"/>
              </a:rPr>
              <a:t>to collect what used
to take </a:t>
            </a:r>
            <a:r>
              <a:rPr lang="en-US" sz="1500" b="0" i="0" dirty="0">
                <a:solidFill>
                  <a:srgbClr val="FFFFFF"/>
                </a:solidFill>
                <a:latin typeface="Calibri"/>
              </a:rPr>
              <a:t>hour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s of manual</a:t>
            </a:r>
            <a:r>
              <a:rPr lang="en-US" sz="1500" b="0" i="0" dirty="0">
                <a:solidFill>
                  <a:srgbClr val="FFFFFF"/>
                </a:solidFill>
                <a:latin typeface="Calibri"/>
              </a:rPr>
              <a:t> + AI</a:t>
            </a:r>
            <a:r>
              <a:rPr sz="1500" b="0" i="0" dirty="0">
                <a:solidFill>
                  <a:srgbClr val="FFFFFF"/>
                </a:solidFill>
                <a:latin typeface="Calibri"/>
              </a:rPr>
              <a:t>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651760" cy="2926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copy-paste errors —
data captured directly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097280"/>
            <a:ext cx="2651760" cy="2926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13716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Always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60604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up to date whenever
you need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33E"/>
                </a:solidFill>
                <a:latin typeface="Calibri"/>
              </a:rPr>
              <a:t>Our team spends less time on data entry
and more time on the work that actually matters.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5440680"/>
            <a:ext cx="5760720" cy="594360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544068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More creativity. Less spreadsheet headaches.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9B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We're Already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0C4C2"/>
                </a:solidFill>
                <a:latin typeface="Calibri"/>
              </a:rPr>
              <a:t>The tool is running today and delivering results for our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0515600" cy="822960"/>
          </a:xfrm>
          <a:prstGeom prst="rect">
            <a:avLst/>
          </a:prstGeom>
          <a:solidFill>
            <a:srgbClr val="24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Currently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54203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Running for multiple vendors right 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4720"/>
            <a:ext cx="10515600" cy="822960"/>
          </a:xfrm>
          <a:prstGeom prst="rect">
            <a:avLst/>
          </a:prstGeom>
          <a:solidFill>
            <a:srgbClr val="24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5478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More vendors 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4787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Easy to add — just tell us which 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10515600" cy="822960"/>
          </a:xfrm>
          <a:prstGeom prst="rect">
            <a:avLst/>
          </a:prstGeom>
          <a:solidFill>
            <a:srgbClr val="24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537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Open to your ideas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55371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What other manual tasks can we automate next?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9B94"/>
                </a:solidFill>
                <a:latin typeface="Calibri"/>
              </a:rPr>
              <a:t>Questions? We would love to show you a live demo!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46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871</Words>
  <Application>Microsoft Office PowerPoint</Application>
  <PresentationFormat>Custom</PresentationFormat>
  <Paragraphs>140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Tanvirul Islam Tusher</cp:lastModifiedBy>
  <cp:revision>7</cp:revision>
  <dcterms:created xsi:type="dcterms:W3CDTF">2013-01-27T09:14:16Z</dcterms:created>
  <dcterms:modified xsi:type="dcterms:W3CDTF">2026-03-30T09:50:06Z</dcterms:modified>
  <cp:category/>
</cp:coreProperties>
</file>
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864"/>
          </a:solidFill>
          <a:ln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C09A10"/>
          </a:solidFill>
          <a:ln>
            <a:solidFill>
              <a:srgbClr val="C09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4048" y="1097280"/>
            <a:ext cx="54864" cy="4114800"/>
          </a:xfrm>
          <a:prstGeom prst="rect">
            <a:avLst/>
          </a:prstGeom>
          <a:solidFill>
            <a:srgbClr val="C09A10"/>
          </a:solidFill>
          <a:ln>
            <a:solidFill>
              <a:srgbClr val="C09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 Light"/>
              </a:rPr>
              <a:t>Vendor Data Intelligence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51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D6E4F0"/>
                </a:solidFill>
                <a:latin typeface="Calibri"/>
              </a:rPr>
              <a:t>Agentic Web Scraping System  ·  Interior Design Procurement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383280"/>
            <a:ext cx="3657600" cy="12700"/>
          </a:xfrm>
          <a:prstGeom prst="rect">
            <a:avLst/>
          </a:prstGeom>
          <a:solidFill>
            <a:srgbClr val="C09A10"/>
          </a:solidFill>
          <a:ln>
            <a:solidFill>
              <a:srgbClr val="C09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566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6E4F0"/>
                </a:solidFill>
                <a:latin typeface="Calibri"/>
              </a:rPr>
              <a:t>Prepared for: Executive Leadership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977639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6E4F0"/>
                </a:solidFill>
                <a:latin typeface="Calibri"/>
              </a:rPr>
              <a:t>March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0" y="1828800"/>
            <a:ext cx="3108960" cy="3200400"/>
          </a:xfrm>
          <a:prstGeom prst="rect">
            <a:avLst/>
          </a:prstGeom>
          <a:solidFill>
            <a:srgbClr val="2E599A"/>
          </a:solidFill>
          <a:ln>
            <a:solidFill>
              <a:srgbClr val="2E59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0" y="201168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C09A10"/>
                </a:solidFill>
                <a:latin typeface="Calibri"/>
              </a:rPr>
              <a:t>163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2468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Vendors Covered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0" y="301752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C09A10"/>
                </a:solidFill>
                <a:latin typeface="Calibri"/>
              </a:rPr>
              <a:t>31+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3474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Product Categories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402336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C09A10"/>
                </a:solidFill>
                <a:latin typeface="Calibri"/>
              </a:rPr>
              <a:t>100%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0" y="4480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Automated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53796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  <a:latin typeface="Calibri"/>
              </a:rPr>
              <a:t>CONFIDENTIAL  ·  Internal Use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3864"/>
          </a:solidFill>
          <a:ln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38100"/>
          </a:xfrm>
          <a:prstGeom prst="rect">
            <a:avLst/>
          </a:prstGeom>
          <a:solidFill>
            <a:srgbClr val="C09A10"/>
          </a:solidFill>
          <a:ln>
            <a:solidFill>
              <a:srgbClr val="C09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 Light"/>
              </a:rPr>
              <a:t>The Challenge We Solved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6E4F0"/>
                </a:solidFill>
                <a:latin typeface="Calibri"/>
              </a:rPr>
              <a:t>2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599A"/>
                </a:solidFill>
                <a:latin typeface="Calibri"/>
              </a:rPr>
              <a:t>Before: Manual &amp; Fragmented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057400"/>
            <a:ext cx="5486400" cy="25400"/>
          </a:xfrm>
          <a:prstGeom prst="rect">
            <a:avLst/>
          </a:prstGeom>
          <a:solidFill>
            <a:srgbClr val="C09A10"/>
          </a:solidFill>
          <a:ln>
            <a:solidFill>
              <a:srgbClr val="C09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24028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✕  Staff manually visited vendor websites one-by-one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✕  Copy-pasting product names, prices &amp; specs into spreadsheets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✕  No consistent format — every person structured data differently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✕  Missed fields, outdated prices &amp; broken links went undetected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✕  Scaling to 163 vendors was humanly impossible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✕  Hours spent per vendor, per update cycle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5544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599A"/>
                </a:solidFill>
                <a:latin typeface="Calibri"/>
              </a:rPr>
              <a:t>After: Automated &amp; Standardised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2057400"/>
            <a:ext cx="5486400" cy="25400"/>
          </a:xfrm>
          <a:prstGeom prst="rect">
            <a:avLst/>
          </a:prstGeom>
          <a:solidFill>
            <a:srgbClr val="C09A10"/>
          </a:solidFill>
          <a:ln>
            <a:solidFill>
              <a:srgbClr val="C09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224028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✔  One command scrapes an entire vendor catalogue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✔  All fields extracted, cleaned &amp; structured automatically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✔  Consistent column layout across every vendor &amp; category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✔  Data validated at source — clean prices, correct dimensions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✔  163 vendors covered with zero extra headcount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✔  Full rescrape in minutes, not days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3864"/>
          </a:solidFill>
          <a:ln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38100"/>
          </a:xfrm>
          <a:prstGeom prst="rect">
            <a:avLst/>
          </a:prstGeom>
          <a:solidFill>
            <a:srgbClr val="C09A10"/>
          </a:solidFill>
          <a:ln>
            <a:solidFill>
              <a:srgbClr val="C09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 Light"/>
              </a:rPr>
              <a:t>What Is This System?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6E4F0"/>
                </a:solidFill>
                <a:latin typeface="Calibri"/>
              </a:rPr>
              <a:t>3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An AI-powered agent that automatically visits interior design vendor websites, reads every product page, and exports clean, structured Excel data — ready for procurement, quoting, and studio use.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286000"/>
            <a:ext cx="3566160" cy="3566160"/>
          </a:xfrm>
          <a:prstGeom prst="rect">
            <a:avLst/>
          </a:prstGeom>
          <a:solidFill>
            <a:srgbClr val="D6E4F0"/>
          </a:solidFill>
          <a:ln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286000"/>
            <a:ext cx="3566160" cy="54864"/>
          </a:xfrm>
          <a:prstGeom prst="rect">
            <a:avLst/>
          </a:prstGeom>
          <a:solidFill>
            <a:srgbClr val="2E599A"/>
          </a:solidFill>
          <a:ln>
            <a:solidFill>
              <a:srgbClr val="2E59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42316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599A"/>
                </a:solidFill>
                <a:latin typeface="Calibri"/>
              </a:rPr>
              <a:t>🤖  Agentic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063240"/>
            <a:ext cx="3291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Claude AI writes, runs, and monitors the scraper code. Each vendor gets a custom scraper tailored to its website structure.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2286000"/>
            <a:ext cx="3566160" cy="3566160"/>
          </a:xfrm>
          <a:prstGeom prst="rect">
            <a:avLst/>
          </a:prstGeom>
          <a:solidFill>
            <a:srgbClr val="D6E4F0"/>
          </a:solidFill>
          <a:ln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2286000"/>
            <a:ext cx="3566160" cy="54864"/>
          </a:xfrm>
          <a:prstGeom prst="rect">
            <a:avLst/>
          </a:prstGeom>
          <a:solidFill>
            <a:srgbClr val="2E599A"/>
          </a:solidFill>
          <a:ln>
            <a:solidFill>
              <a:srgbClr val="2E59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242316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599A"/>
                </a:solidFill>
                <a:latin typeface="Calibri"/>
              </a:rPr>
              <a:t>📊  Structured 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3063240"/>
            <a:ext cx="3291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Data is exported as multi-tab Excel files with consistent columns: Name, SKU, Price, Dimensions, Materials, Images, and more.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2286000"/>
            <a:ext cx="3566160" cy="3566160"/>
          </a:xfrm>
          <a:prstGeom prst="rect">
            <a:avLst/>
          </a:prstGeom>
          <a:solidFill>
            <a:srgbClr val="D6E4F0"/>
          </a:solidFill>
          <a:ln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2286000"/>
            <a:ext cx="3566160" cy="54864"/>
          </a:xfrm>
          <a:prstGeom prst="rect">
            <a:avLst/>
          </a:prstGeom>
          <a:solidFill>
            <a:srgbClr val="2E599A"/>
          </a:solidFill>
          <a:ln>
            <a:solidFill>
              <a:srgbClr val="2E59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242316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599A"/>
                </a:solidFill>
                <a:latin typeface="Calibri"/>
              </a:rPr>
              <a:t>⚡  Scalable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3063240"/>
            <a:ext cx="3291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163 vendors already mapped. Adding a new vendor takes minutes — just point the system at the tracker and run one command.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3864"/>
          </a:solidFill>
          <a:ln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38100"/>
          </a:xfrm>
          <a:prstGeom prst="rect">
            <a:avLst/>
          </a:prstGeom>
          <a:solidFill>
            <a:srgbClr val="C09A10"/>
          </a:solidFill>
          <a:ln>
            <a:solidFill>
              <a:srgbClr val="C09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 Light"/>
              </a:rPr>
              <a:t>How the Process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6E4F0"/>
                </a:solidFill>
                <a:latin typeface="Calibri"/>
              </a:rPr>
              <a:t>4 / 10</a:t>
            </a:r>
          </a:p>
        </p:txBody>
      </p:sp>
      <p:sp>
        <p:nvSpPr>
          <p:cNvPr id="6" name="Oval 5"/>
          <p:cNvSpPr/>
          <p:nvPr/>
        </p:nvSpPr>
        <p:spPr>
          <a:xfrm>
            <a:off x="1051560" y="1645920"/>
            <a:ext cx="731520" cy="731520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673352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87168" y="178308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09A10"/>
                </a:solidFill>
                <a:latin typeface="Calibri"/>
              </a:rPr>
              <a:t>▶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560320"/>
            <a:ext cx="2103120" cy="411480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2560320"/>
            <a:ext cx="2103120" cy="45720"/>
          </a:xfrm>
          <a:prstGeom prst="rect">
            <a:avLst/>
          </a:prstGeom>
          <a:solidFill>
            <a:srgbClr val="2E599A"/>
          </a:solidFill>
          <a:ln>
            <a:solidFill>
              <a:srgbClr val="2E59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65176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599A"/>
                </a:solidFill>
                <a:latin typeface="Calibri"/>
              </a:rPr>
              <a:t>SD Tracker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246120"/>
            <a:ext cx="1920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Calibri"/>
              </a:rPr>
              <a:t>Studio team maintains the master Excel tracker with vendor names, category URLs, and required columns.</a:t>
            </a:r>
          </a:p>
        </p:txBody>
      </p:sp>
      <p:sp>
        <p:nvSpPr>
          <p:cNvPr id="13" name="Oval 12"/>
          <p:cNvSpPr/>
          <p:nvPr/>
        </p:nvSpPr>
        <p:spPr>
          <a:xfrm>
            <a:off x="3410712" y="1645920"/>
            <a:ext cx="731520" cy="731520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10712" y="1673352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178308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09A10"/>
                </a:solidFill>
                <a:latin typeface="Calibri"/>
              </a:rPr>
              <a:t>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24912" y="2560320"/>
            <a:ext cx="2103120" cy="411480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24912" y="2560320"/>
            <a:ext cx="2103120" cy="45720"/>
          </a:xfrm>
          <a:prstGeom prst="rect">
            <a:avLst/>
          </a:prstGeom>
          <a:solidFill>
            <a:srgbClr val="2E599A"/>
          </a:solidFill>
          <a:ln>
            <a:solidFill>
              <a:srgbClr val="2E59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16352" y="265176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599A"/>
                </a:solidFill>
                <a:latin typeface="Calibri"/>
              </a:rPr>
              <a:t>Vendor Parser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16352" y="3246120"/>
            <a:ext cx="1920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Calibri"/>
              </a:rPr>
              <a:t>System reads the tracker and extracts category links and column specs for each vendor automatically.</a:t>
            </a:r>
          </a:p>
        </p:txBody>
      </p:sp>
      <p:sp>
        <p:nvSpPr>
          <p:cNvPr id="20" name="Oval 19"/>
          <p:cNvSpPr/>
          <p:nvPr/>
        </p:nvSpPr>
        <p:spPr>
          <a:xfrm>
            <a:off x="5769864" y="1645920"/>
            <a:ext cx="731520" cy="731520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69864" y="1673352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05472" y="178308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09A10"/>
                </a:solidFill>
                <a:latin typeface="Calibri"/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84064" y="2560320"/>
            <a:ext cx="2103120" cy="411480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84064" y="2560320"/>
            <a:ext cx="2103120" cy="45720"/>
          </a:xfrm>
          <a:prstGeom prst="rect">
            <a:avLst/>
          </a:prstGeom>
          <a:solidFill>
            <a:srgbClr val="2E599A"/>
          </a:solidFill>
          <a:ln>
            <a:solidFill>
              <a:srgbClr val="2E59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75504" y="265176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599A"/>
                </a:solidFill>
                <a:latin typeface="Calibri"/>
              </a:rPr>
              <a:t>AI Scraper Writer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75504" y="3246120"/>
            <a:ext cx="1920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Calibri"/>
              </a:rPr>
              <a:t>Claude AI generates a custom scraper.py for the vendor — tailored to its specific website layout.</a:t>
            </a:r>
          </a:p>
        </p:txBody>
      </p:sp>
      <p:sp>
        <p:nvSpPr>
          <p:cNvPr id="27" name="Oval 26"/>
          <p:cNvSpPr/>
          <p:nvPr/>
        </p:nvSpPr>
        <p:spPr>
          <a:xfrm>
            <a:off x="8129016" y="1645920"/>
            <a:ext cx="731520" cy="731520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29016" y="1673352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64624" y="178308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09A10"/>
                </a:solidFill>
                <a:latin typeface="Calibri"/>
              </a:rPr>
              <a:t>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43216" y="2560320"/>
            <a:ext cx="2103120" cy="411480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443216" y="2560320"/>
            <a:ext cx="2103120" cy="45720"/>
          </a:xfrm>
          <a:prstGeom prst="rect">
            <a:avLst/>
          </a:prstGeom>
          <a:solidFill>
            <a:srgbClr val="2E599A"/>
          </a:solidFill>
          <a:ln>
            <a:solidFill>
              <a:srgbClr val="2E59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34656" y="265176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599A"/>
                </a:solidFill>
                <a:latin typeface="Calibri"/>
              </a:rPr>
              <a:t>Playwright Scraper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34656" y="3246120"/>
            <a:ext cx="1920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Calibri"/>
              </a:rPr>
              <a:t>The scraper navigates every product listing, opens each product page, and collects all available data.</a:t>
            </a:r>
          </a:p>
        </p:txBody>
      </p:sp>
      <p:sp>
        <p:nvSpPr>
          <p:cNvPr id="34" name="Oval 33"/>
          <p:cNvSpPr/>
          <p:nvPr/>
        </p:nvSpPr>
        <p:spPr>
          <a:xfrm>
            <a:off x="10488168" y="1645920"/>
            <a:ext cx="731520" cy="731520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488168" y="1673352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802368" y="2560320"/>
            <a:ext cx="2103120" cy="411480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802368" y="2560320"/>
            <a:ext cx="2103120" cy="45720"/>
          </a:xfrm>
          <a:prstGeom prst="rect">
            <a:avLst/>
          </a:prstGeom>
          <a:solidFill>
            <a:srgbClr val="2E599A"/>
          </a:solidFill>
          <a:ln>
            <a:solidFill>
              <a:srgbClr val="2E59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893808" y="265176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599A"/>
                </a:solidFill>
                <a:latin typeface="Calibri"/>
              </a:rPr>
              <a:t>Structured Excel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93808" y="3246120"/>
            <a:ext cx="1920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Calibri"/>
              </a:rPr>
              <a:t>Clean, formatted Excel files are saved with one sheet per category, correct columns, and live image links.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3864"/>
          </a:solidFill>
          <a:ln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38100"/>
          </a:xfrm>
          <a:prstGeom prst="rect">
            <a:avLst/>
          </a:prstGeom>
          <a:solidFill>
            <a:srgbClr val="C09A10"/>
          </a:solidFill>
          <a:ln>
            <a:solidFill>
              <a:srgbClr val="C09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 Light"/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6E4F0"/>
                </a:solidFill>
                <a:latin typeface="Calibri"/>
              </a:rPr>
              <a:t>5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463040"/>
            <a:ext cx="3520440" cy="219456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463040"/>
            <a:ext cx="3520440" cy="45720"/>
          </a:xfrm>
          <a:prstGeom prst="rect">
            <a:avLst/>
          </a:prstGeom>
          <a:solidFill>
            <a:srgbClr val="C09A10"/>
          </a:solidFill>
          <a:ln>
            <a:solidFill>
              <a:srgbClr val="C09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8" y="1554480"/>
            <a:ext cx="33009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  <a:latin typeface="Consolas"/>
              </a:rPr>
              <a:t>vendor_parser.py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" y="2057400"/>
            <a:ext cx="330098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Reads the SD Tracker Excel file. Extracts category names, URLs, and required column lists per vendor. Outputs structured JSON.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60" y="1463040"/>
            <a:ext cx="3520440" cy="219456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60" y="1463040"/>
            <a:ext cx="3520440" cy="45720"/>
          </a:xfrm>
          <a:prstGeom prst="rect">
            <a:avLst/>
          </a:prstGeom>
          <a:solidFill>
            <a:srgbClr val="C09A10"/>
          </a:solidFill>
          <a:ln>
            <a:solidFill>
              <a:srgbClr val="C09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61688" y="1554480"/>
            <a:ext cx="33009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  <a:latin typeface="Consolas"/>
              </a:rPr>
              <a:t>orchestrator.py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61688" y="2057400"/>
            <a:ext cx="330098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Central dispatcher. Checks if a scraper exists, runs it in full or test mode, sets environment variables, and handles exit codes.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92440" y="1463040"/>
            <a:ext cx="3520440" cy="219456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463040"/>
            <a:ext cx="3520440" cy="45720"/>
          </a:xfrm>
          <a:prstGeom prst="rect">
            <a:avLst/>
          </a:prstGeom>
          <a:solidFill>
            <a:srgbClr val="C09A10"/>
          </a:solidFill>
          <a:ln>
            <a:solidFill>
              <a:srgbClr val="C09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2168" y="1554480"/>
            <a:ext cx="33009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  <a:latin typeface="Consolas"/>
              </a:rPr>
              <a:t>base_scraper.py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2168" y="2057400"/>
            <a:ext cx="330098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Shared library used by all scrapers. Provides: Playwright browser, Excel writer, text cleaners, price parser, dimension parser, SKU generator.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3931920"/>
            <a:ext cx="3520440" cy="219456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1480" y="3931920"/>
            <a:ext cx="3520440" cy="45720"/>
          </a:xfrm>
          <a:prstGeom prst="rect">
            <a:avLst/>
          </a:prstGeom>
          <a:solidFill>
            <a:srgbClr val="C09A10"/>
          </a:solidFill>
          <a:ln>
            <a:solidFill>
              <a:srgbClr val="C09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1208" y="4023360"/>
            <a:ext cx="33009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  <a:latin typeface="Consolas"/>
              </a:rPr>
              <a:t>&lt;Vendor&gt;/scraper.py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" y="4526280"/>
            <a:ext cx="330098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Vendor-specific scraper written by Claude AI. Handles the unique HTML structure of each vendor website. Fully standalone and rerunnable.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51960" y="3931920"/>
            <a:ext cx="3520440" cy="219456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51960" y="3931920"/>
            <a:ext cx="3520440" cy="45720"/>
          </a:xfrm>
          <a:prstGeom prst="rect">
            <a:avLst/>
          </a:prstGeom>
          <a:solidFill>
            <a:srgbClr val="C09A10"/>
          </a:solidFill>
          <a:ln>
            <a:solidFill>
              <a:srgbClr val="C09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61688" y="4023360"/>
            <a:ext cx="33009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  <a:latin typeface="Consolas"/>
              </a:rPr>
              <a:t>ExcelWriter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61688" y="4526280"/>
            <a:ext cx="330098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Dynamic column engine. Buffers all scraped rows, merges tracker columns with discovered fields, and writes the final formatted Excel file.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92440" y="3931920"/>
            <a:ext cx="3520440" cy="219456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92440" y="3931920"/>
            <a:ext cx="3520440" cy="45720"/>
          </a:xfrm>
          <a:prstGeom prst="rect">
            <a:avLst/>
          </a:prstGeom>
          <a:solidFill>
            <a:srgbClr val="C09A10"/>
          </a:solidFill>
          <a:ln>
            <a:solidFill>
              <a:srgbClr val="C09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02168" y="4023360"/>
            <a:ext cx="33009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  <a:latin typeface="Consolas"/>
              </a:rPr>
              <a:t>SD Tracker .xlsx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02168" y="4526280"/>
            <a:ext cx="330098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Single source of truth. Studio team owns this file. Defines which vendors to scrape, which categories, what columns are expected.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3864"/>
          </a:solidFill>
          <a:ln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38100"/>
          </a:xfrm>
          <a:prstGeom prst="rect">
            <a:avLst/>
          </a:prstGeom>
          <a:solidFill>
            <a:srgbClr val="C09A10"/>
          </a:solidFill>
          <a:ln>
            <a:solidFill>
              <a:srgbClr val="C09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 Light"/>
              </a:rPr>
              <a:t>Scale &amp; Coverage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6E4F0"/>
                </a:solidFill>
                <a:latin typeface="Calibri"/>
              </a:rPr>
              <a:t>6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08760"/>
            <a:ext cx="2651760" cy="1828800"/>
          </a:xfrm>
          <a:prstGeom prst="rect">
            <a:avLst/>
          </a:prstGeom>
          <a:solidFill>
            <a:srgbClr val="1F3864"/>
          </a:solidFill>
          <a:ln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00200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C09A10"/>
                </a:solidFill>
                <a:latin typeface="Calibri"/>
              </a:rPr>
              <a:t>163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06040"/>
            <a:ext cx="2651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Vendors in
the Tracker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508760"/>
            <a:ext cx="2651760" cy="1828800"/>
          </a:xfrm>
          <a:prstGeom prst="rect">
            <a:avLst/>
          </a:prstGeom>
          <a:solidFill>
            <a:srgbClr val="1F3864"/>
          </a:solidFill>
          <a:ln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1600200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C09A10"/>
                </a:solidFill>
                <a:latin typeface="Calibri"/>
              </a:rPr>
              <a:t>31+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2606040"/>
            <a:ext cx="2651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Product Categories
per Vendor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508760"/>
            <a:ext cx="2651760" cy="1828800"/>
          </a:xfrm>
          <a:prstGeom prst="rect">
            <a:avLst/>
          </a:prstGeom>
          <a:solidFill>
            <a:srgbClr val="1F3864"/>
          </a:solidFill>
          <a:ln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1600200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C09A10"/>
                </a:solidFill>
                <a:latin typeface="Calibri"/>
              </a:rPr>
              <a:t>500+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2606040"/>
            <a:ext cx="2651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Data Fields
Captured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61120" y="1508760"/>
            <a:ext cx="2651760" cy="1828800"/>
          </a:xfrm>
          <a:prstGeom prst="rect">
            <a:avLst/>
          </a:prstGeom>
          <a:solidFill>
            <a:srgbClr val="1F3864"/>
          </a:solidFill>
          <a:ln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0" y="1600200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C09A10"/>
                </a:solidFill>
                <a:latin typeface="Calibri"/>
              </a:rPr>
              <a:t>100%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2606040"/>
            <a:ext cx="2651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Automated
Data Pipeline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6576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599A"/>
                </a:solidFill>
                <a:latin typeface="Calibri"/>
              </a:rPr>
              <a:t>Categories Covered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114800"/>
            <a:ext cx="11247120" cy="12700"/>
          </a:xfrm>
          <a:prstGeom prst="rect">
            <a:avLst/>
          </a:prstGeom>
          <a:solidFill>
            <a:srgbClr val="C09A10"/>
          </a:solidFill>
          <a:ln>
            <a:solidFill>
              <a:srgbClr val="C09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2519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  <a:latin typeface="Calibri"/>
              </a:rPr>
              <a:t>Furniture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4251960"/>
            <a:ext cx="9784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657A"/>
                </a:solidFill>
                <a:latin typeface="Calibri"/>
              </a:rPr>
              <a:t>Nightstands · Coffee Tables · Dining Tables · Consoles · Desks · Beds · Cabinets · Dressers · Bar Carts · Bookcases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81888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  <a:latin typeface="Calibri"/>
              </a:rPr>
              <a:t>Seating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0240" y="4818888"/>
            <a:ext cx="9784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657A"/>
                </a:solidFill>
                <a:latin typeface="Calibri"/>
              </a:rPr>
              <a:t>Dining Chairs · Bar Stools · Sofas · Loveseats · Sectionals · Benches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385816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  <a:latin typeface="Calibri"/>
              </a:rPr>
              <a:t>Lighting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5385816"/>
            <a:ext cx="9784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657A"/>
                </a:solidFill>
                <a:latin typeface="Calibri"/>
              </a:rPr>
              <a:t>Chandeliers · Pendants · Sconces · Flush Mounts · Table Lamps · Floor Lamps · Bulbs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952744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  <a:latin typeface="Calibri"/>
              </a:rPr>
              <a:t>Accessories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40" y="5952744"/>
            <a:ext cx="9784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657A"/>
                </a:solidFill>
                <a:latin typeface="Calibri"/>
              </a:rPr>
              <a:t>Mirrors · Pillows &amp; Throws · Vases · Bowls · Trays · Objects · Wall Decor · Rugs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3864"/>
          </a:solidFill>
          <a:ln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38100"/>
          </a:xfrm>
          <a:prstGeom prst="rect">
            <a:avLst/>
          </a:prstGeom>
          <a:solidFill>
            <a:srgbClr val="C09A10"/>
          </a:solidFill>
          <a:ln>
            <a:solidFill>
              <a:srgbClr val="C09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 Light"/>
              </a:rPr>
              <a:t>Output Quality &amp; Data Standards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6E4F0"/>
                </a:solidFill>
                <a:latin typeface="Calibri"/>
              </a:rPr>
              <a:t>7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599A"/>
                </a:solidFill>
                <a:latin typeface="Calibri"/>
              </a:rPr>
              <a:t>Fields Captured per Product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920240"/>
            <a:ext cx="5303520" cy="530352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99339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Product URL  ·  Image URL</a:t>
            </a:r>
          </a:p>
        </p:txBody>
      </p:sp>
      <p:sp>
        <p:nvSpPr>
          <p:cNvPr id="9" name="Rectangle 8"/>
          <p:cNvSpPr/>
          <p:nvPr/>
        </p:nvSpPr>
        <p:spPr>
          <a:xfrm>
            <a:off x="6080760" y="1920240"/>
            <a:ext cx="5577840" cy="530352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993392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Seat Height  ·  Seat Depth  ·  Arm Height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560320"/>
            <a:ext cx="5303520" cy="53035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63347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Product Name  ·  SKU  ·  Product Family ID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80760" y="2560320"/>
            <a:ext cx="5577840" cy="53035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2633472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Socket  ·  Wattage  ·  Light Source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200400"/>
            <a:ext cx="5303520" cy="530352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27355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List Price  ·  Description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80760" y="3200400"/>
            <a:ext cx="5577840" cy="530352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3273552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Shade Details  ·  Canopy  ·  Chain Length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840480"/>
            <a:ext cx="5303520" cy="53035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391363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Width  ·  Depth  ·  Height  ·  Diameter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80760" y="3840480"/>
            <a:ext cx="5577840" cy="53035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0" y="3913632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Designer  ·  Collection  ·  Lead Time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480560"/>
            <a:ext cx="5303520" cy="530352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455371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Weight  ·  Materials  ·  Specifications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80760" y="4480560"/>
            <a:ext cx="5577840" cy="530352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0" y="4553712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COM  ·  COL  ·  COT availability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120640"/>
            <a:ext cx="5303520" cy="53035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519379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Finish  ·  Color  ·  Fabric  ·  Upholstery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80760" y="5120640"/>
            <a:ext cx="5577840" cy="53035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0" y="5193792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Tearsheet Link  ·  + any field found on page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989320"/>
            <a:ext cx="11247120" cy="713232"/>
          </a:xfrm>
          <a:prstGeom prst="rect">
            <a:avLst/>
          </a:prstGeom>
          <a:solidFill>
            <a:srgbClr val="D6E4F0"/>
          </a:solidFill>
          <a:ln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60533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F3864"/>
                </a:solidFill>
                <a:latin typeface="Calibri"/>
              </a:rPr>
              <a:t>Data Standards:  Prices: numeric only — no $, USD, or commas  (e.g. 1200.0)   ·   Dimensions: numbers only — no inch marks, fractions converted to decimals   ·   Product Names: sentence case applied uniformly across all vendors   ·   SKUs: auto-generated when vendor does not provide one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3864"/>
          </a:solidFill>
          <a:ln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38100"/>
          </a:xfrm>
          <a:prstGeom prst="rect">
            <a:avLst/>
          </a:prstGeom>
          <a:solidFill>
            <a:srgbClr val="C09A10"/>
          </a:solidFill>
          <a:ln>
            <a:solidFill>
              <a:srgbClr val="C09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 Light"/>
              </a:rPr>
              <a:t>Business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6E4F0"/>
                </a:solidFill>
                <a:latin typeface="Calibri"/>
              </a:rPr>
              <a:t>8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508760"/>
            <a:ext cx="5486400" cy="118872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508760"/>
            <a:ext cx="54864" cy="1188720"/>
          </a:xfrm>
          <a:prstGeom prst="rect">
            <a:avLst/>
          </a:prstGeom>
          <a:solidFill>
            <a:srgbClr val="2E599A"/>
          </a:solidFill>
          <a:ln>
            <a:solidFill>
              <a:srgbClr val="2E59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" y="160020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599A"/>
                </a:solidFill>
                <a:latin typeface="Calibri"/>
              </a:rPr>
              <a:t>Time Savings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1984248"/>
            <a:ext cx="52120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Calibri"/>
              </a:rPr>
              <a:t>What previously took days of manual work per vendor now runs in minutes. A full 163-vendor scrape can be triggered and completed without any manual effort.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508760"/>
            <a:ext cx="5486400" cy="118872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508760"/>
            <a:ext cx="54864" cy="1188720"/>
          </a:xfrm>
          <a:prstGeom prst="rect">
            <a:avLst/>
          </a:prstGeom>
          <a:solidFill>
            <a:srgbClr val="2E599A"/>
          </a:solidFill>
          <a:ln>
            <a:solidFill>
              <a:srgbClr val="2E59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2" y="160020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599A"/>
                </a:solidFill>
                <a:latin typeface="Calibri"/>
              </a:rPr>
              <a:t>Accuracy &amp; Consistency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1984248"/>
            <a:ext cx="52120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Calibri"/>
              </a:rPr>
              <a:t>Human copy-paste errors are eliminated. Every price is a clean number, every dimension is unit-free, every product name follows the same casing standard.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2926080"/>
            <a:ext cx="5486400" cy="118872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" y="2926080"/>
            <a:ext cx="54864" cy="1188720"/>
          </a:xfrm>
          <a:prstGeom prst="rect">
            <a:avLst/>
          </a:prstGeom>
          <a:solidFill>
            <a:srgbClr val="2E599A"/>
          </a:solidFill>
          <a:ln>
            <a:solidFill>
              <a:srgbClr val="2E59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6072" y="301752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599A"/>
                </a:solidFill>
                <a:latin typeface="Calibri"/>
              </a:rPr>
              <a:t>Scalability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" y="3401568"/>
            <a:ext cx="52120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Calibri"/>
              </a:rPr>
              <a:t>The same system handles one vendor or one hundred. Adding a new vendor requires only an entry in the SD tracker — no new code.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2926080"/>
            <a:ext cx="5486400" cy="118872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2926080"/>
            <a:ext cx="54864" cy="1188720"/>
          </a:xfrm>
          <a:prstGeom prst="rect">
            <a:avLst/>
          </a:prstGeom>
          <a:solidFill>
            <a:srgbClr val="2E599A"/>
          </a:solidFill>
          <a:ln>
            <a:solidFill>
              <a:srgbClr val="2E59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73952" y="301752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599A"/>
                </a:solidFill>
                <a:latin typeface="Calibri"/>
              </a:rPr>
              <a:t>Studio Productivity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3952" y="3401568"/>
            <a:ext cx="52120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Calibri"/>
              </a:rPr>
              <a:t>Studio staff spend time on design decisions, not data entry. Procurement, quoting, and presentation prep are faster and more reliable.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4343400"/>
            <a:ext cx="5486400" cy="118872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" y="4343400"/>
            <a:ext cx="54864" cy="1188720"/>
          </a:xfrm>
          <a:prstGeom prst="rect">
            <a:avLst/>
          </a:prstGeom>
          <a:solidFill>
            <a:srgbClr val="2E599A"/>
          </a:solidFill>
          <a:ln>
            <a:solidFill>
              <a:srgbClr val="2E59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6072" y="443484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599A"/>
                </a:solidFill>
                <a:latin typeface="Calibri"/>
              </a:rPr>
              <a:t>Competitive Edge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72" y="4818888"/>
            <a:ext cx="52120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Calibri"/>
              </a:rPr>
              <a:t>Up-to-date, structured product data across 163 vendors gives the studio a sourcing advantage that competitors relying on manual research cannot match.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4343400"/>
            <a:ext cx="5486400" cy="118872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09360" y="4343400"/>
            <a:ext cx="54864" cy="1188720"/>
          </a:xfrm>
          <a:prstGeom prst="rect">
            <a:avLst/>
          </a:prstGeom>
          <a:solidFill>
            <a:srgbClr val="2E599A"/>
          </a:solidFill>
          <a:ln>
            <a:solidFill>
              <a:srgbClr val="2E59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73952" y="443484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599A"/>
                </a:solidFill>
                <a:latin typeface="Calibri"/>
              </a:rPr>
              <a:t>AI-Driven &amp; Future-Ready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73952" y="4818888"/>
            <a:ext cx="52120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Calibri"/>
              </a:rPr>
              <a:t>Built on Claude AI, the system self-writes vendor scrapers. Improvements to the AI model automatically improve the scraping quality.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3864"/>
          </a:solidFill>
          <a:ln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38100"/>
          </a:xfrm>
          <a:prstGeom prst="rect">
            <a:avLst/>
          </a:prstGeom>
          <a:solidFill>
            <a:srgbClr val="C09A10"/>
          </a:solidFill>
          <a:ln>
            <a:solidFill>
              <a:srgbClr val="C09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 Light"/>
              </a:rPr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6E4F0"/>
                </a:solidFill>
                <a:latin typeface="Calibri"/>
              </a:rPr>
              <a:t>9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508760"/>
            <a:ext cx="5486400" cy="114300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508760"/>
            <a:ext cx="5486400" cy="36576"/>
          </a:xfrm>
          <a:prstGeom prst="rect">
            <a:avLst/>
          </a:prstGeom>
          <a:solidFill>
            <a:srgbClr val="C09A10"/>
          </a:solidFill>
          <a:ln>
            <a:solidFill>
              <a:srgbClr val="C09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8" y="1581912"/>
            <a:ext cx="52669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  <a:latin typeface="Consolas"/>
              </a:rPr>
              <a:t>Claude AI  (Anthropic)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" y="1965960"/>
            <a:ext cx="526694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Calibri"/>
              </a:rPr>
              <a:t>Powers the agentic scraper generation. Understands website HTML, writes Python code, and adapts to each vendor's unique structure.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508760"/>
            <a:ext cx="5486400" cy="114300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508760"/>
            <a:ext cx="5486400" cy="36576"/>
          </a:xfrm>
          <a:prstGeom prst="rect">
            <a:avLst/>
          </a:prstGeom>
          <a:solidFill>
            <a:srgbClr val="C09A10"/>
          </a:solidFill>
          <a:ln>
            <a:solidFill>
              <a:srgbClr val="C09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581912"/>
            <a:ext cx="52669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  <a:latin typeface="Consolas"/>
              </a:rPr>
              <a:t>Python 3.13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1965960"/>
            <a:ext cx="526694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Calibri"/>
              </a:rPr>
              <a:t>Core language for all scraping logic, data parsing, and orchestration. Fast, readable, and extensively tested.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2880360"/>
            <a:ext cx="5486400" cy="114300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" y="2880360"/>
            <a:ext cx="5486400" cy="36576"/>
          </a:xfrm>
          <a:prstGeom prst="rect">
            <a:avLst/>
          </a:prstGeom>
          <a:solidFill>
            <a:srgbClr val="C09A10"/>
          </a:solidFill>
          <a:ln>
            <a:solidFill>
              <a:srgbClr val="C09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1208" y="2953512"/>
            <a:ext cx="52669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  <a:latin typeface="Consolas"/>
              </a:rPr>
              <a:t>Playwright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" y="3337560"/>
            <a:ext cx="526694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Calibri"/>
              </a:rPr>
              <a:t>Headless browser automation. Handles JavaScript-rendered pages, lazy-loaded images, and dynamic content that simple HTTP requests cannot reach.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2880360"/>
            <a:ext cx="5486400" cy="114300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2880360"/>
            <a:ext cx="5486400" cy="36576"/>
          </a:xfrm>
          <a:prstGeom prst="rect">
            <a:avLst/>
          </a:prstGeom>
          <a:solidFill>
            <a:srgbClr val="C09A10"/>
          </a:solidFill>
          <a:ln>
            <a:solidFill>
              <a:srgbClr val="C09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9088" y="2953512"/>
            <a:ext cx="52669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  <a:latin typeface="Consolas"/>
              </a:rPr>
              <a:t>openpyxl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3337560"/>
            <a:ext cx="526694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Calibri"/>
              </a:rPr>
              <a:t>Writes structured, formatted Excel files. Supports dynamic column ordering, header styling, and multi-sheet workbooks.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4251960"/>
            <a:ext cx="5486400" cy="114300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" y="4251960"/>
            <a:ext cx="5486400" cy="36576"/>
          </a:xfrm>
          <a:prstGeom prst="rect">
            <a:avLst/>
          </a:prstGeom>
          <a:solidFill>
            <a:srgbClr val="C09A10"/>
          </a:solidFill>
          <a:ln>
            <a:solidFill>
              <a:srgbClr val="C09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1208" y="4325112"/>
            <a:ext cx="52669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  <a:latin typeface="Consolas"/>
              </a:rPr>
              <a:t>Claude Code CLI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8" y="4709160"/>
            <a:ext cx="526694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Calibri"/>
              </a:rPr>
              <a:t>The command-line interface through which Claude AI reads, writes, and runs code autonomously in the project workspace.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4251960"/>
            <a:ext cx="5486400" cy="114300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09360" y="4251960"/>
            <a:ext cx="5486400" cy="36576"/>
          </a:xfrm>
          <a:prstGeom prst="rect">
            <a:avLst/>
          </a:prstGeom>
          <a:solidFill>
            <a:srgbClr val="C09A10"/>
          </a:solidFill>
          <a:ln>
            <a:solidFill>
              <a:srgbClr val="C09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19088" y="4325112"/>
            <a:ext cx="52669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  <a:latin typeface="Consolas"/>
              </a:rPr>
              <a:t>SD Tracker  (Excel)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19088" y="4709160"/>
            <a:ext cx="526694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Calibri"/>
              </a:rPr>
              <a:t>The human-facing control panel. Studio staff update it to add vendors, adjust categories, or change required column names — no code needed.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" y="5989320"/>
            <a:ext cx="11338560" cy="640080"/>
          </a:xfrm>
          <a:prstGeom prst="rect">
            <a:avLst/>
          </a:prstGeom>
          <a:solidFill>
            <a:srgbClr val="D6E4F0"/>
          </a:solidFill>
          <a:ln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6080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3864"/>
                </a:solidFill>
                <a:latin typeface="Calibri"/>
              </a:rPr>
              <a:t>All components are open-source or proprietary-free except Claude AI (API subscription). No third-party scraping services or paid data providers are required.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3864"/>
          </a:solidFill>
          <a:ln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38100"/>
          </a:xfrm>
          <a:prstGeom prst="rect">
            <a:avLst/>
          </a:prstGeom>
          <a:solidFill>
            <a:srgbClr val="C09A10"/>
          </a:solidFill>
          <a:ln>
            <a:solidFill>
              <a:srgbClr val="C09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 Light"/>
              </a:rPr>
              <a:t>Next Steps &amp;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6E4F0"/>
                </a:solidFill>
                <a:latin typeface="Calibri"/>
              </a:rPr>
              <a:t>10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508760"/>
            <a:ext cx="3749039" cy="484632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508760"/>
            <a:ext cx="3749039" cy="502920"/>
          </a:xfrm>
          <a:prstGeom prst="rect">
            <a:avLst/>
          </a:prstGeom>
          <a:solidFill>
            <a:srgbClr val="2E599A"/>
          </a:solidFill>
          <a:ln>
            <a:solidFill>
              <a:srgbClr val="2E59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8" y="1572768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Phase 1  —  In Progress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148840"/>
            <a:ext cx="347472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2240280"/>
            <a:ext cx="3246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Complete scraper coverage for all 163 tracked vendors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429000"/>
            <a:ext cx="347472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" y="3520440"/>
            <a:ext cx="3246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Regina Andrew, Visual Comfort, Arteriors — active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709160"/>
            <a:ext cx="347472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" y="4800600"/>
            <a:ext cx="3246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Full test → validate → full-run pipeline operational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25112" y="1508760"/>
            <a:ext cx="3749039" cy="484632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25112" y="1508760"/>
            <a:ext cx="3749039" cy="502920"/>
          </a:xfrm>
          <a:prstGeom prst="rect">
            <a:avLst/>
          </a:prstGeom>
          <a:solidFill>
            <a:srgbClr val="C09A10"/>
          </a:solidFill>
          <a:ln>
            <a:solidFill>
              <a:srgbClr val="C09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4840" y="1572768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Phase 2  —  Near Term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62272" y="2148840"/>
            <a:ext cx="347472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81144" y="2240280"/>
            <a:ext cx="3246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Scheduled re-scrapes: auto-refresh vendor data on a weekly/monthly cycle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62272" y="3429000"/>
            <a:ext cx="347472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81144" y="3520440"/>
            <a:ext cx="3246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Price-change detection: flag products where price has changed since last run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62272" y="4709160"/>
            <a:ext cx="347472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81144" y="4800600"/>
            <a:ext cx="3246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Image download: cache product images locally for offline presentations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38744" y="1508760"/>
            <a:ext cx="3749039" cy="484632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38744" y="1508760"/>
            <a:ext cx="3749039" cy="502920"/>
          </a:xfrm>
          <a:prstGeom prst="rect">
            <a:avLst/>
          </a:prstGeom>
          <a:solidFill>
            <a:srgbClr val="55657A"/>
          </a:solidFill>
          <a:ln>
            <a:solidFill>
              <a:srgbClr val="5565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48472" y="1572768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Phase 3  —  Future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75904" y="2148840"/>
            <a:ext cx="347472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94776" y="2240280"/>
            <a:ext cx="3246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Database integration: push scraped data directly into studio ERP / CRM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375904" y="3429000"/>
            <a:ext cx="347472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94776" y="3520440"/>
            <a:ext cx="3246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Web dashboard: browse and search all vendor products in one interface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375904" y="4709160"/>
            <a:ext cx="347472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94776" y="4800600"/>
            <a:ext cx="3246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Automatic vendor discovery: AI identifies and proposes new vendors to add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1480" y="6400800"/>
            <a:ext cx="11338560" cy="25400"/>
          </a:xfrm>
          <a:prstGeom prst="rect">
            <a:avLst/>
          </a:prstGeom>
          <a:solidFill>
            <a:srgbClr val="C09A10"/>
          </a:solidFill>
          <a:ln>
            <a:solidFill>
              <a:srgbClr val="C09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603504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F3864"/>
                </a:solidFill>
                <a:latin typeface="Calibri"/>
              </a:rPr>
              <a:t>The foundation is built. Every new vendor is now a one-command operation.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